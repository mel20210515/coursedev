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what might be the most definitionally slippery course they'll take. Tell them upfront: by the end of today, they'll have a precise vocabulary for something most people describe vaguely as 'doing good while doing well.' Preview the arc: we start with a thought experiment, map the landscape, then sit with the tension that defines the field. This chapter is about sharpening their instincts.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opener: Ask students to picture Tiong Bahru, Singapore — a gentrified neighborhood, two cafés side by side. Before you explain anything, get them to sit with the scenario you're about to share. Tell them their gut reaction 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slowly. Then ask: raise your hand if you'd choose the first café knowing this. Almost everyone will. Then ask: why? Push them — is it guilt? Genuine belief in impact? Virtue signaling? That discomfort is exactly where social entrepreneurship theory lives. The café story isn't resolved here — it's a thread we'll pull all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criterion carefully. The 'by design' point is the one that does the most work — a hospital that accidentally helps poor patients is not a social enterprise. The accountability point matters: being accountable to a beneficiary who can't easily walk away is structurally different from being accountable to a paying customer who can. Ask: which of these criteria would a B-Corp satisfy? A fair-trade coffee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Full stop. Give this sentence ten seconds of silence. This is the one students should photograph. Then ask them to test it: apply it to TOMS shoes — does it hold? (Early TOMS: yes. Later TOMS: debatable.) Apply it to Patagonia — does it hold? The sentence is a litmus test, not just a slogan.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that students have an intuition for what social enterprise feels like, let's get precise. The next slides map the terrain against adjacent concepts — CSR, philanthropy, impact investing, traditional nonprofits. Warn them: the boundaries are genuinely contested. Scholars disagree. But the disagreements are instructive.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columns in parallel — don't just read left then right. Pick a row and contrast it. The most important row is the accountability one: social enterprise is the only model where market feedback and mission accountability operate simultaneously. That's the structural uniqueness. Ask: where would you place Grameen Bank? Where would you place REI?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as a horizontal spectrum on the board — pure nonprofit on the left, pure for-profit on the right. The interesting action is in the middle three zones. That's where social entrepreneurship lives. Ask students: is one position on this spectrum inherently better? (No — but each position has different strengths, risks, and accountability structures.) Also ask: can an organization move along this spectrum over time? (Yes — and the direction of drift matters enormously.)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Dees wrote this in 1998 and it remains the field's foundational definition. Spend a moment on 'sustain' — that single word implies a model that doesn't depend purely on charity or grants. It demands financial architecture. This is why the definition is so generative: it rules out one-off giving, it rules out passive CSR, and it demands ongoing structural accountability. Ask: what would Dees say about a company that creates social value for three years and then pivots for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chapter — we shift from definition to lived experience. Signal this shift explicitly: 'We've defined the animal. Now let's talk about what it's like to be the animal.' The next slides aren't about clarity — they're about productive discomfort. That's honest. The field is uncomfortable. That's why it's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happens when the two lines conflict? Give a concrete example — a job-training social enterprise has 40 clients it can sustainably serve, but 80 applicants. Do you take 80 and risk financial ruin, or hold at 40 and leave 40 people without help? There's no clean answer. That's the point. The double bottom line isn't a metaphor — it's a management problem that recurs weekly.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drift is the slow death of many social enterprises — and it rarely announces itself. Use the microfinance example: the sector started with radical financial inclusion for the ultra-poor, and within two decades included institutions with predatory lending practices and MFI IPOs that made founders wealthy while clients fell into debt traps. No one decided to drift. They each made small, locally rational decisions. The pattern is worth fearing.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 is the chapter's emotional climax. Pure charity has no market feedback loop — you can run ineffective programs for decades with no corrective signal. Pure business has no mission accountability — profit is the only signal. Social enterprise has both simultaneously. That dual accountability is uncomfortable, but it's also the feature, not the bug. Ask students: would you rather have one demanding boss or two? Then make them sit with why they answered what they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two cafés. Ask: can students now articulate precisely why the first café qualifies as a social enterprise and the second doesn't? If they can do that cleanly, they've got the chapter. Preview next class: we'll look at what it actually takes to build one of these — the founding logic, the legal structures, and the first hard decisions. Optional exit ticket: ask students to name one organization they believe is a social enterprise and one they believe is misusing the label. Collect responses — gold for discussion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914400" y="1097280"/>
            <a:ext cx="7315200" cy="1645920"/>
          </a:xfrm>
          <a:prstGeom prst="rect">
            <a:avLst/>
          </a:prstGeom>
          <a:noFill/>
          <a:ln/>
        </p:spPr>
        <p:txBody>
          <a:bodyPr wrap="square" rtlCol="0" anchor="b"/>
          <a:lstStyle/>
          <a:p>
            <a:pPr algn="ctr" indent="0" marL="0">
              <a:buNone/>
            </a:pPr>
            <a:r>
              <a:rPr lang="en-US" sz="3600" b="1" dirty="0">
                <a:solidFill>
                  <a:srgbClr val="1C1917"/>
                </a:solidFill>
                <a:latin typeface="Segoe UI" pitchFamily="34" charset="0"/>
                <a:ea typeface="Segoe UI" pitchFamily="34" charset="-122"/>
                <a:cs typeface="Segoe UI" pitchFamily="34" charset="-120"/>
              </a:rPr>
              <a:t>The Space Between Profit and Purpose</a:t>
            </a:r>
            <a:endParaRPr lang="en-US" sz="3600" dirty="0"/>
          </a:p>
        </p:txBody>
      </p:sp>
      <p:sp>
        <p:nvSpPr>
          <p:cNvPr id="3" name="Shape 1"/>
          <p:cNvSpPr/>
          <p:nvPr/>
        </p:nvSpPr>
        <p:spPr>
          <a:xfrm>
            <a:off x="3657600" y="2926080"/>
            <a:ext cx="1828800" cy="54864"/>
          </a:xfrm>
          <a:prstGeom prst="rect">
            <a:avLst>
              <a:gd name="adj" fmla="val 50000"/>
            </a:avLst>
          </a:prstGeom>
          <a:solidFill>
            <a:srgbClr val="C2410C"/>
          </a:solidFill>
          <a:ln/>
        </p:spPr>
      </p:sp>
      <p:sp>
        <p:nvSpPr>
          <p:cNvPr id="4" name="Text 2"/>
          <p:cNvSpPr/>
          <p:nvPr/>
        </p:nvSpPr>
        <p:spPr>
          <a:xfrm>
            <a:off x="914400" y="3200400"/>
            <a:ext cx="7315200" cy="731520"/>
          </a:xfrm>
          <a:prstGeom prst="rect">
            <a:avLst/>
          </a:prstGeom>
          <a:noFill/>
          <a:ln/>
        </p:spPr>
        <p:txBody>
          <a:bodyPr wrap="square" rtlCol="0" anchor="t"/>
          <a:lstStyle/>
          <a:p>
            <a:pPr algn="ctr" indent="0" marL="0">
              <a:buNone/>
            </a:pPr>
            <a:r>
              <a:rPr lang="en-US" sz="1600" i="1" dirty="0">
                <a:solidFill>
                  <a:srgbClr val="44403C"/>
                </a:solidFill>
                <a:latin typeface="Segoe UI" pitchFamily="34" charset="0"/>
                <a:ea typeface="Segoe UI" pitchFamily="34" charset="-122"/>
                <a:cs typeface="Segoe UI" pitchFamily="34" charset="-120"/>
              </a:rPr>
              <a:t>What if the most important thing about a business isn't what it sells — but what it changes?</a:t>
            </a:r>
            <a:endParaRPr lang="en-US" sz="1600" dirty="0"/>
          </a:p>
        </p:txBody>
      </p:sp>
      <p:sp>
        <p:nvSpPr>
          <p:cNvPr id="5" name="Text 3"/>
          <p:cNvSpPr/>
          <p:nvPr/>
        </p:nvSpPr>
        <p:spPr>
          <a:xfrm>
            <a:off x="914400" y="4206240"/>
            <a:ext cx="7315200" cy="457200"/>
          </a:xfrm>
          <a:prstGeom prst="rect">
            <a:avLst/>
          </a:prstGeom>
          <a:noFill/>
          <a:ln/>
        </p:spPr>
        <p:txBody>
          <a:bodyPr wrap="square" rtlCol="0" anchor="ctr"/>
          <a:lstStyle/>
          <a:p>
            <a:pPr algn="ctr" indent="0" marL="0">
              <a:buNone/>
            </a:pPr>
            <a:r>
              <a:rPr lang="en-US" sz="1200" dirty="0">
                <a:solidFill>
                  <a:srgbClr val="78716C"/>
                </a:solidFill>
                <a:latin typeface="Segoe UI" pitchFamily="34" charset="0"/>
                <a:ea typeface="Segoe UI" pitchFamily="34" charset="-122"/>
                <a:cs typeface="Segoe UI" pitchFamily="34" charset="-120"/>
              </a:rPr>
              <a:t>Engines of Change: Social Entrepreneurship in Singapore and the ASEAN Mosaic</a:t>
            </a:r>
            <a:endParaRPr lang="en-US" sz="1200" dirty="0"/>
          </a:p>
        </p:txBody>
      </p:sp>
      <p:sp>
        <p:nvSpPr>
          <p:cNvPr id="7" name="Text 4"/>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371600"/>
            <a:ext cx="73152" cy="2286000"/>
          </a:xfrm>
          <a:prstGeom prst="rect">
            <a:avLst>
              <a:gd name="adj" fmla="val 50000"/>
            </a:avLst>
          </a:prstGeom>
          <a:solidFill>
            <a:srgbClr val="C2410C"/>
          </a:solidFill>
          <a:ln/>
        </p:spPr>
      </p:sp>
      <p:sp>
        <p:nvSpPr>
          <p:cNvPr id="3" name="Text 1"/>
          <p:cNvSpPr/>
          <p:nvPr/>
        </p:nvSpPr>
        <p:spPr>
          <a:xfrm>
            <a:off x="1005840" y="1371600"/>
            <a:ext cx="7315200" cy="1280160"/>
          </a:xfrm>
          <a:prstGeom prst="rect">
            <a:avLst/>
          </a:prstGeom>
          <a:noFill/>
          <a:ln/>
        </p:spPr>
        <p:txBody>
          <a:bodyPr wrap="square" rtlCol="0" anchor="ctr"/>
          <a:lstStyle/>
          <a:p>
            <a:pPr algn="l" indent="0" marL="0">
              <a:buNone/>
            </a:pPr>
            <a:r>
              <a:rPr lang="en-US" sz="3200" b="1" dirty="0">
                <a:solidFill>
                  <a:srgbClr val="1C1917"/>
                </a:solidFill>
                <a:latin typeface="Segoe UI" pitchFamily="34" charset="0"/>
                <a:ea typeface="Segoe UI" pitchFamily="34" charset="-122"/>
                <a:cs typeface="Segoe UI" pitchFamily="34" charset="-120"/>
              </a:rPr>
              <a:t>Same Coffee, Different Mission</a:t>
            </a:r>
            <a:endParaRPr lang="en-US" sz="3200" dirty="0"/>
          </a:p>
        </p:txBody>
      </p:sp>
      <p:sp>
        <p:nvSpPr>
          <p:cNvPr id="4" name="Text 2"/>
          <p:cNvSpPr/>
          <p:nvPr/>
        </p:nvSpPr>
        <p:spPr>
          <a:xfrm>
            <a:off x="1005840" y="2743200"/>
            <a:ext cx="7315200" cy="731520"/>
          </a:xfrm>
          <a:prstGeom prst="rect">
            <a:avLst/>
          </a:prstGeom>
          <a:noFill/>
          <a:ln/>
        </p:spPr>
        <p:txBody>
          <a:bodyPr wrap="square" rtlCol="0" anchor="t"/>
          <a:lstStyle/>
          <a:p>
            <a:pPr algn="l" indent="0" marL="0">
              <a:buNone/>
            </a:pPr>
            <a:r>
              <a:rPr lang="en-US" sz="1600" dirty="0">
                <a:solidFill>
                  <a:srgbClr val="44403C"/>
                </a:solidFill>
                <a:latin typeface="Segoe UI" pitchFamily="34" charset="0"/>
                <a:ea typeface="Segoe UI" pitchFamily="34" charset="-122"/>
                <a:cs typeface="Segoe UI" pitchFamily="34" charset="-120"/>
              </a:rPr>
              <a:t>Before we can define social entrepreneurship, we need to feel why the definition matters.</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731520" y="365760"/>
            <a:ext cx="914400" cy="1097280"/>
          </a:xfrm>
          <a:prstGeom prst="rect">
            <a:avLst/>
          </a:prstGeom>
          <a:noFill/>
          <a:ln/>
        </p:spPr>
        <p:txBody>
          <a:bodyPr wrap="square" rtlCol="0" anchor="ctr"/>
          <a:lstStyle/>
          <a:p>
            <a:pPr algn="l" indent="0" marL="0">
              <a:buNone/>
            </a:pPr>
            <a:r>
              <a:rPr lang="en-US" sz="7200" b="1" dirty="0">
                <a:solidFill>
                  <a:srgbClr val="C2410C"/>
                </a:solidFill>
                <a:latin typeface="Georgia" pitchFamily="34" charset="0"/>
                <a:ea typeface="Georgia" pitchFamily="34" charset="-122"/>
                <a:cs typeface="Georgia" pitchFamily="34" charset="-120"/>
              </a:rPr>
              <a:t>“</a:t>
            </a:r>
            <a:endParaRPr lang="en-US" sz="7200" dirty="0"/>
          </a:p>
        </p:txBody>
      </p:sp>
      <p:sp>
        <p:nvSpPr>
          <p:cNvPr id="3" name="Text 1"/>
          <p:cNvSpPr/>
          <p:nvPr/>
        </p:nvSpPr>
        <p:spPr>
          <a:xfrm>
            <a:off x="1097280" y="1280160"/>
            <a:ext cx="6949440" cy="2194560"/>
          </a:xfrm>
          <a:prstGeom prst="rect">
            <a:avLst/>
          </a:prstGeom>
          <a:noFill/>
          <a:ln/>
        </p:spPr>
        <p:txBody>
          <a:bodyPr wrap="square" rtlCol="0" anchor="ctr"/>
          <a:lstStyle/>
          <a:p>
            <a:pPr algn="l" indent="0" marL="0">
              <a:lnSpc>
                <a:spcPts val="3200"/>
              </a:lnSpc>
              <a:buNone/>
            </a:pPr>
            <a:r>
              <a:rPr lang="en-US" sz="2200" i="1" dirty="0">
                <a:solidFill>
                  <a:srgbClr val="1C1917"/>
                </a:solidFill>
                <a:latin typeface="Segoe UI" pitchFamily="34" charset="0"/>
                <a:ea typeface="Segoe UI" pitchFamily="34" charset="-122"/>
                <a:cs typeface="Segoe UI" pitchFamily="34" charset="-120"/>
              </a:rPr>
              <a:t>The coffee tastes the same. The price is the same. But in one café, every cup funds a twelve-month pathway out of incarceration. What exactly makes that different — and does it matter?</a:t>
            </a:r>
            <a:endParaRPr lang="en-US" sz="2200" dirty="0"/>
          </a:p>
        </p:txBody>
      </p:sp>
      <p:sp>
        <p:nvSpPr>
          <p:cNvPr id="4" name="Shape 2"/>
          <p:cNvSpPr/>
          <p:nvPr/>
        </p:nvSpPr>
        <p:spPr>
          <a:xfrm>
            <a:off x="1097280" y="3657600"/>
            <a:ext cx="1371600" cy="36576"/>
          </a:xfrm>
          <a:prstGeom prst="rect">
            <a:avLst>
              <a:gd name="adj" fmla="val 50000"/>
            </a:avLst>
          </a:prstGeom>
          <a:solidFill>
            <a:srgbClr val="C2410C"/>
          </a:solidFill>
          <a:ln/>
        </p:spPr>
      </p:sp>
      <p:sp>
        <p:nvSpPr>
          <p:cNvPr id="5" name="Text 3"/>
          <p:cNvSpPr/>
          <p:nvPr/>
        </p:nvSpPr>
        <p:spPr>
          <a:xfrm>
            <a:off x="1097280" y="3840480"/>
            <a:ext cx="6949440" cy="457200"/>
          </a:xfrm>
          <a:prstGeom prst="rect">
            <a:avLst/>
          </a:prstGeom>
          <a:noFill/>
          <a:ln/>
        </p:spPr>
        <p:txBody>
          <a:bodyPr wrap="square" rtlCol="0" anchor="ctr"/>
          <a:lstStyle/>
          <a:p>
            <a:pPr algn="l" indent="0" marL="0">
              <a:buNone/>
            </a:pPr>
            <a:r>
              <a:rPr lang="en-US" sz="1400" dirty="0">
                <a:solidFill>
                  <a:srgbClr val="EA580C"/>
                </a:solidFill>
                <a:latin typeface="Segoe UI" pitchFamily="34" charset="0"/>
                <a:ea typeface="Segoe UI" pitchFamily="34" charset="-122"/>
                <a:cs typeface="Segoe UI" pitchFamily="34" charset="-120"/>
              </a:rPr>
              <a:t>Tiong Bahru, Singapore — Two Cafés</a:t>
            </a:r>
            <a:endParaRPr lang="en-US" sz="1400" dirty="0"/>
          </a:p>
        </p:txBody>
      </p:sp>
      <p:sp>
        <p:nvSpPr>
          <p:cNvPr id="7" name="Text 4"/>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640080" y="274320"/>
            <a:ext cx="7863840" cy="731520"/>
          </a:xfrm>
          <a:prstGeom prst="rect">
            <a:avLst/>
          </a:prstGeom>
          <a:noFill/>
          <a:ln/>
        </p:spPr>
        <p:txBody>
          <a:bodyPr wrap="square" rtlCol="0" anchor="ctr"/>
          <a:lstStyle/>
          <a:p>
            <a:pPr algn="l" indent="0" marL="0">
              <a:buNone/>
            </a:pPr>
            <a:r>
              <a:rPr lang="en-US" sz="2400" b="1" dirty="0">
                <a:solidFill>
                  <a:srgbClr val="1C1917"/>
                </a:solidFill>
                <a:latin typeface="Segoe UI" pitchFamily="34" charset="0"/>
                <a:ea typeface="Segoe UI" pitchFamily="34" charset="-122"/>
                <a:cs typeface="Segoe UI" pitchFamily="34" charset="-120"/>
              </a:rPr>
              <a:t>What Makes a Business 'Social'?</a:t>
            </a:r>
            <a:endParaRPr lang="en-US" sz="2400" dirty="0"/>
          </a:p>
        </p:txBody>
      </p:sp>
      <p:sp>
        <p:nvSpPr>
          <p:cNvPr id="3" name="Shape 1"/>
          <p:cNvSpPr/>
          <p:nvPr/>
        </p:nvSpPr>
        <p:spPr>
          <a:xfrm>
            <a:off x="640080" y="1051560"/>
            <a:ext cx="7863840" cy="22860"/>
          </a:xfrm>
          <a:prstGeom prst="rect">
            <a:avLst/>
          </a:prstGeom>
          <a:solidFill>
            <a:srgbClr val="C2410C"/>
          </a:solidFill>
          <a:ln/>
        </p:spPr>
      </p:sp>
      <p:sp>
        <p:nvSpPr>
          <p:cNvPr id="4" name="Text 2"/>
          <p:cNvSpPr/>
          <p:nvPr/>
        </p:nvSpPr>
        <p:spPr>
          <a:xfrm>
            <a:off x="822960" y="1280160"/>
            <a:ext cx="7498080" cy="3474720"/>
          </a:xfrm>
          <a:prstGeom prst="rect">
            <a:avLst/>
          </a:prstGeom>
          <a:noFill/>
          <a:ln/>
        </p:spPr>
        <p:txBody>
          <a:bodyPr wrap="square" rtlCol="0" anchor="t"/>
          <a:lstStyle/>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Primary purpose is social or environmental change</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Market mechanisms fund the mission — not charity</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Impact is by design, not accident or by-product</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Accountable to both beneficiaries and customers</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Profit serves purpose — not the reverse</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914400" y="731520"/>
            <a:ext cx="7315200" cy="457200"/>
          </a:xfrm>
          <a:prstGeom prst="rect">
            <a:avLst/>
          </a:prstGeom>
          <a:noFill/>
          <a:ln/>
        </p:spPr>
        <p:txBody>
          <a:bodyPr wrap="square" rtlCol="0" anchor="ctr"/>
          <a:lstStyle/>
          <a:p>
            <a:pPr algn="ctr" indent="0" marL="0">
              <a:buNone/>
            </a:pPr>
            <a:r>
              <a:rPr lang="en-US" sz="1200" b="1" spc="300" kern="0" dirty="0">
                <a:solidFill>
                  <a:srgbClr val="C2410C"/>
                </a:solidFill>
                <a:latin typeface="Segoe UI" pitchFamily="34" charset="0"/>
                <a:ea typeface="Segoe UI" pitchFamily="34" charset="-122"/>
                <a:cs typeface="Segoe UI" pitchFamily="34" charset="-120"/>
              </a:rPr>
              <a:t>The Core Distinction</a:t>
            </a:r>
            <a:endParaRPr lang="en-US" sz="1200" dirty="0"/>
          </a:p>
        </p:txBody>
      </p:sp>
      <p:sp>
        <p:nvSpPr>
          <p:cNvPr id="3" name="Text 1"/>
          <p:cNvSpPr/>
          <p:nvPr/>
        </p:nvSpPr>
        <p:spPr>
          <a:xfrm>
            <a:off x="914400" y="1463040"/>
            <a:ext cx="7315200" cy="2560320"/>
          </a:xfrm>
          <a:prstGeom prst="rect">
            <a:avLst/>
          </a:prstGeom>
          <a:noFill/>
          <a:ln/>
        </p:spPr>
        <p:txBody>
          <a:bodyPr wrap="square" rtlCol="0" anchor="ctr"/>
          <a:lstStyle/>
          <a:p>
            <a:pPr algn="ctr" indent="0" marL="0">
              <a:lnSpc>
                <a:spcPts val="3600"/>
              </a:lnSpc>
              <a:buNone/>
            </a:pPr>
            <a:r>
              <a:rPr lang="en-US" sz="2800" b="1" dirty="0">
                <a:solidFill>
                  <a:srgbClr val="1C1917"/>
                </a:solidFill>
                <a:latin typeface="Segoe UI" pitchFamily="34" charset="0"/>
                <a:ea typeface="Segoe UI" pitchFamily="34" charset="-122"/>
                <a:cs typeface="Segoe UI" pitchFamily="34" charset="-120"/>
              </a:rPr>
              <a:t>A social enterprise doesn't do good alongside business — the business IS how it does good.</a:t>
            </a:r>
            <a:endParaRPr lang="en-US" sz="2800" dirty="0"/>
          </a:p>
        </p:txBody>
      </p:sp>
      <p:sp>
        <p:nvSpPr>
          <p:cNvPr id="4" name="Shape 2"/>
          <p:cNvSpPr/>
          <p:nvPr/>
        </p:nvSpPr>
        <p:spPr>
          <a:xfrm>
            <a:off x="4297680" y="4389120"/>
            <a:ext cx="91440" cy="91440"/>
          </a:xfrm>
          <a:prstGeom prst="ellipse">
            <a:avLst/>
          </a:prstGeom>
          <a:solidFill>
            <a:srgbClr val="78716C"/>
          </a:solidFill>
          <a:ln/>
        </p:spPr>
      </p:sp>
      <p:sp>
        <p:nvSpPr>
          <p:cNvPr id="5" name="Shape 3"/>
          <p:cNvSpPr/>
          <p:nvPr/>
        </p:nvSpPr>
        <p:spPr>
          <a:xfrm>
            <a:off x="4526280" y="4389120"/>
            <a:ext cx="91440" cy="91440"/>
          </a:xfrm>
          <a:prstGeom prst="ellipse">
            <a:avLst/>
          </a:prstGeom>
          <a:solidFill>
            <a:srgbClr val="C2410C"/>
          </a:solidFill>
          <a:ln/>
        </p:spPr>
      </p:sp>
      <p:sp>
        <p:nvSpPr>
          <p:cNvPr id="6" name="Shape 4"/>
          <p:cNvSpPr/>
          <p:nvPr/>
        </p:nvSpPr>
        <p:spPr>
          <a:xfrm>
            <a:off x="4754880" y="4389120"/>
            <a:ext cx="91440" cy="91440"/>
          </a:xfrm>
          <a:prstGeom prst="ellipse">
            <a:avLst/>
          </a:prstGeom>
          <a:solidFill>
            <a:srgbClr val="78716C"/>
          </a:solidFill>
          <a:ln/>
        </p:spPr>
      </p:sp>
      <p:sp>
        <p:nvSpPr>
          <p:cNvPr id="8" name="Text 5"/>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371600"/>
            <a:ext cx="73152" cy="2286000"/>
          </a:xfrm>
          <a:prstGeom prst="rect">
            <a:avLst>
              <a:gd name="adj" fmla="val 50000"/>
            </a:avLst>
          </a:prstGeom>
          <a:solidFill>
            <a:srgbClr val="C2410C"/>
          </a:solidFill>
          <a:ln/>
        </p:spPr>
      </p:sp>
      <p:sp>
        <p:nvSpPr>
          <p:cNvPr id="3" name="Text 1"/>
          <p:cNvSpPr/>
          <p:nvPr/>
        </p:nvSpPr>
        <p:spPr>
          <a:xfrm>
            <a:off x="1005840" y="1371600"/>
            <a:ext cx="7315200" cy="1280160"/>
          </a:xfrm>
          <a:prstGeom prst="rect">
            <a:avLst/>
          </a:prstGeom>
          <a:noFill/>
          <a:ln/>
        </p:spPr>
        <p:txBody>
          <a:bodyPr wrap="square" rtlCol="0" anchor="ctr"/>
          <a:lstStyle/>
          <a:p>
            <a:pPr algn="l" indent="0" marL="0">
              <a:buNone/>
            </a:pPr>
            <a:r>
              <a:rPr lang="en-US" sz="3200" b="1" dirty="0">
                <a:solidFill>
                  <a:srgbClr val="1C1917"/>
                </a:solidFill>
                <a:latin typeface="Segoe UI" pitchFamily="34" charset="0"/>
                <a:ea typeface="Segoe UI" pitchFamily="34" charset="-122"/>
                <a:cs typeface="Segoe UI" pitchFamily="34" charset="-120"/>
              </a:rPr>
              <a:t>Mapping the Landscape</a:t>
            </a:r>
            <a:endParaRPr lang="en-US" sz="3200" dirty="0"/>
          </a:p>
        </p:txBody>
      </p:sp>
      <p:sp>
        <p:nvSpPr>
          <p:cNvPr id="4" name="Text 2"/>
          <p:cNvSpPr/>
          <p:nvPr/>
        </p:nvSpPr>
        <p:spPr>
          <a:xfrm>
            <a:off x="1005840" y="2743200"/>
            <a:ext cx="7315200" cy="731520"/>
          </a:xfrm>
          <a:prstGeom prst="rect">
            <a:avLst/>
          </a:prstGeom>
          <a:noFill/>
          <a:ln/>
        </p:spPr>
        <p:txBody>
          <a:bodyPr wrap="square" rtlCol="0" anchor="t"/>
          <a:lstStyle/>
          <a:p>
            <a:pPr algn="l" indent="0" marL="0">
              <a:buNone/>
            </a:pPr>
            <a:r>
              <a:rPr lang="en-US" sz="1600" dirty="0">
                <a:solidFill>
                  <a:srgbClr val="44403C"/>
                </a:solidFill>
                <a:latin typeface="Segoe UI" pitchFamily="34" charset="0"/>
                <a:ea typeface="Segoe UI" pitchFamily="34" charset="-122"/>
                <a:cs typeface="Segoe UI" pitchFamily="34" charset="-120"/>
              </a:rPr>
              <a:t>Social entrepreneurship sits in a crowded neighborhood — and knowing your neighbors is the only way to know where you live.</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640080" y="274320"/>
            <a:ext cx="7863840" cy="731520"/>
          </a:xfrm>
          <a:prstGeom prst="rect">
            <a:avLst/>
          </a:prstGeom>
          <a:noFill/>
          <a:ln/>
        </p:spPr>
        <p:txBody>
          <a:bodyPr wrap="square" rtlCol="0" anchor="ctr"/>
          <a:lstStyle/>
          <a:p>
            <a:pPr algn="l" indent="0" marL="0">
              <a:buNone/>
            </a:pPr>
            <a:r>
              <a:rPr lang="en-US" sz="2400" b="1" dirty="0">
                <a:solidFill>
                  <a:srgbClr val="1C1917"/>
                </a:solidFill>
                <a:latin typeface="Segoe UI" pitchFamily="34" charset="0"/>
                <a:ea typeface="Segoe UI" pitchFamily="34" charset="-122"/>
                <a:cs typeface="Segoe UI" pitchFamily="34" charset="-120"/>
              </a:rPr>
              <a:t>Social Enterprise vs. The Neighbors</a:t>
            </a:r>
            <a:endParaRPr lang="en-US" sz="2400" dirty="0"/>
          </a:p>
        </p:txBody>
      </p:sp>
      <p:sp>
        <p:nvSpPr>
          <p:cNvPr id="3" name="Shape 1"/>
          <p:cNvSpPr/>
          <p:nvPr/>
        </p:nvSpPr>
        <p:spPr>
          <a:xfrm>
            <a:off x="640080" y="1051560"/>
            <a:ext cx="7863840" cy="22860"/>
          </a:xfrm>
          <a:prstGeom prst="rect">
            <a:avLst/>
          </a:prstGeom>
          <a:solidFill>
            <a:srgbClr val="C2410C"/>
          </a:solidFill>
          <a:ln/>
        </p:spPr>
      </p:sp>
      <p:sp>
        <p:nvSpPr>
          <p:cNvPr id="4" name="Text 2"/>
          <p:cNvSpPr/>
          <p:nvPr/>
        </p:nvSpPr>
        <p:spPr>
          <a:xfrm>
            <a:off x="640080" y="1280160"/>
            <a:ext cx="3657600" cy="3474720"/>
          </a:xfrm>
          <a:prstGeom prst="rect">
            <a:avLst/>
          </a:prstGeom>
          <a:noFill/>
          <a:ln/>
        </p:spPr>
        <p:txBody>
          <a:bodyPr wrap="square" rtlCol="0" anchor="t"/>
          <a:lstStyle/>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Mission is the primary reason to exist</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Revenue model structurally tied to impact</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Beneficiary and customer often overlap</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Impact measured as the primary output</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Hybrid accountability: market + mission</a:t>
            </a:r>
            <a:endParaRPr lang="en-US" sz="1400" dirty="0"/>
          </a:p>
        </p:txBody>
      </p:sp>
      <p:sp>
        <p:nvSpPr>
          <p:cNvPr id="5" name="Shape 3"/>
          <p:cNvSpPr/>
          <p:nvPr/>
        </p:nvSpPr>
        <p:spPr>
          <a:xfrm>
            <a:off x="4526280" y="1371600"/>
            <a:ext cx="27432" cy="2926080"/>
          </a:xfrm>
          <a:prstGeom prst="rect">
            <a:avLst/>
          </a:prstGeom>
          <a:solidFill>
            <a:srgbClr val="78716C"/>
          </a:solidFill>
          <a:ln/>
        </p:spPr>
      </p:sp>
      <p:sp>
        <p:nvSpPr>
          <p:cNvPr id="6" name="Text 4"/>
          <p:cNvSpPr/>
          <p:nvPr/>
        </p:nvSpPr>
        <p:spPr>
          <a:xfrm>
            <a:off x="4846320" y="1280160"/>
            <a:ext cx="3657600" cy="3474720"/>
          </a:xfrm>
          <a:prstGeom prst="rect">
            <a:avLst/>
          </a:prstGeom>
          <a:noFill/>
          <a:ln/>
        </p:spPr>
        <p:txBody>
          <a:bodyPr wrap="square" rtlCol="0" anchor="t"/>
          <a:lstStyle/>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CSR: profit-first; giving is downstream of shareholder value</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Philanthropy: impact-first; no market sustainability required</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Impact investing: financial return leads; impact is a constraint</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Traditional nonprofit: mission-only; no market pressure or feedback</a:t>
            </a:r>
            <a:endParaRPr lang="en-US" sz="1400" dirty="0"/>
          </a:p>
          <a:p>
            <a:pPr marL="342900" indent="-342900">
              <a:lnSpc>
                <a:spcPts val="2000"/>
              </a:lnSpc>
              <a:spcBef>
                <a:spcPts val="600"/>
              </a:spcBef>
              <a:spcAft>
                <a:spcPts val="300"/>
              </a:spcAft>
              <a:buSzPct val="100000"/>
              <a:buChar char="●"/>
            </a:pPr>
            <a:r>
              <a:rPr lang="en-US" sz="1400" dirty="0">
                <a:solidFill>
                  <a:srgbClr val="44403C"/>
                </a:solidFill>
                <a:latin typeface="Segoe UI" pitchFamily="34" charset="0"/>
                <a:ea typeface="Segoe UI" pitchFamily="34" charset="-122"/>
                <a:cs typeface="Segoe UI" pitchFamily="34" charset="-120"/>
              </a:rPr>
              <a:t>Conscious business: values-aligned operations, not impact-by-design</a:t>
            </a:r>
            <a:endParaRPr lang="en-US" sz="1400" dirty="0"/>
          </a:p>
        </p:txBody>
      </p:sp>
      <p:sp>
        <p:nvSpPr>
          <p:cNvPr id="8" name="Text 5"/>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640080" y="274320"/>
            <a:ext cx="7863840" cy="731520"/>
          </a:xfrm>
          <a:prstGeom prst="rect">
            <a:avLst/>
          </a:prstGeom>
          <a:noFill/>
          <a:ln/>
        </p:spPr>
        <p:txBody>
          <a:bodyPr wrap="square" rtlCol="0" anchor="ctr"/>
          <a:lstStyle/>
          <a:p>
            <a:pPr algn="l" indent="0" marL="0">
              <a:buNone/>
            </a:pPr>
            <a:r>
              <a:rPr lang="en-US" sz="2400" b="1" dirty="0">
                <a:solidFill>
                  <a:srgbClr val="1C1917"/>
                </a:solidFill>
                <a:latin typeface="Segoe UI" pitchFamily="34" charset="0"/>
                <a:ea typeface="Segoe UI" pitchFamily="34" charset="-122"/>
                <a:cs typeface="Segoe UI" pitchFamily="34" charset="-120"/>
              </a:rPr>
              <a:t>The Social Enterprise Spectrum</a:t>
            </a:r>
            <a:endParaRPr lang="en-US" sz="2400" dirty="0"/>
          </a:p>
        </p:txBody>
      </p:sp>
      <p:sp>
        <p:nvSpPr>
          <p:cNvPr id="3" name="Shape 1"/>
          <p:cNvSpPr/>
          <p:nvPr/>
        </p:nvSpPr>
        <p:spPr>
          <a:xfrm>
            <a:off x="640080" y="1051560"/>
            <a:ext cx="7863840" cy="22860"/>
          </a:xfrm>
          <a:prstGeom prst="rect">
            <a:avLst/>
          </a:prstGeom>
          <a:solidFill>
            <a:srgbClr val="C2410C"/>
          </a:solidFill>
          <a:ln/>
        </p:spPr>
      </p:sp>
      <p:sp>
        <p:nvSpPr>
          <p:cNvPr id="4" name="Text 2"/>
          <p:cNvSpPr/>
          <p:nvPr/>
        </p:nvSpPr>
        <p:spPr>
          <a:xfrm>
            <a:off x="822960" y="1280160"/>
            <a:ext cx="7498080" cy="3474720"/>
          </a:xfrm>
          <a:prstGeom prst="rect">
            <a:avLst/>
          </a:prstGeom>
          <a:noFill/>
          <a:ln/>
        </p:spPr>
        <p:txBody>
          <a:bodyPr wrap="square" rtlCol="0" anchor="t"/>
          <a:lstStyle/>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Pure nonprofits: grant-funded, mission-only operations</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Nonprofits with earned income streams (hybrid)</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Social enterprises: mission-led + market-revenue core</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Mission-embedded for-profits (e.g., benefit corporations)</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Traditional firms with CSR programs bolted on</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731520" y="365760"/>
            <a:ext cx="914400" cy="1097280"/>
          </a:xfrm>
          <a:prstGeom prst="rect">
            <a:avLst/>
          </a:prstGeom>
          <a:noFill/>
          <a:ln/>
        </p:spPr>
        <p:txBody>
          <a:bodyPr wrap="square" rtlCol="0" anchor="ctr"/>
          <a:lstStyle/>
          <a:p>
            <a:pPr algn="l" indent="0" marL="0">
              <a:buNone/>
            </a:pPr>
            <a:r>
              <a:rPr lang="en-US" sz="7200" b="1" dirty="0">
                <a:solidFill>
                  <a:srgbClr val="C2410C"/>
                </a:solidFill>
                <a:latin typeface="Georgia" pitchFamily="34" charset="0"/>
                <a:ea typeface="Georgia" pitchFamily="34" charset="-122"/>
                <a:cs typeface="Georgia" pitchFamily="34" charset="-120"/>
              </a:rPr>
              <a:t>“</a:t>
            </a:r>
            <a:endParaRPr lang="en-US" sz="7200" dirty="0"/>
          </a:p>
        </p:txBody>
      </p:sp>
      <p:sp>
        <p:nvSpPr>
          <p:cNvPr id="3" name="Text 1"/>
          <p:cNvSpPr/>
          <p:nvPr/>
        </p:nvSpPr>
        <p:spPr>
          <a:xfrm>
            <a:off x="1097280" y="1280160"/>
            <a:ext cx="6949440" cy="2194560"/>
          </a:xfrm>
          <a:prstGeom prst="rect">
            <a:avLst/>
          </a:prstGeom>
          <a:noFill/>
          <a:ln/>
        </p:spPr>
        <p:txBody>
          <a:bodyPr wrap="square" rtlCol="0" anchor="ctr"/>
          <a:lstStyle/>
          <a:p>
            <a:pPr algn="l" indent="0" marL="0">
              <a:lnSpc>
                <a:spcPts val="3200"/>
              </a:lnSpc>
              <a:buNone/>
            </a:pPr>
            <a:r>
              <a:rPr lang="en-US" sz="2200" i="1" dirty="0">
                <a:solidFill>
                  <a:srgbClr val="1C1917"/>
                </a:solidFill>
                <a:latin typeface="Segoe UI" pitchFamily="34" charset="0"/>
                <a:ea typeface="Segoe UI" pitchFamily="34" charset="-122"/>
                <a:cs typeface="Segoe UI" pitchFamily="34" charset="-120"/>
              </a:rPr>
              <a:t>Social entrepreneurs are reformers and revolutionaries... They are driven to create and sustain social value — not just private value.</a:t>
            </a:r>
            <a:endParaRPr lang="en-US" sz="2200" dirty="0"/>
          </a:p>
        </p:txBody>
      </p:sp>
      <p:sp>
        <p:nvSpPr>
          <p:cNvPr id="4" name="Shape 2"/>
          <p:cNvSpPr/>
          <p:nvPr/>
        </p:nvSpPr>
        <p:spPr>
          <a:xfrm>
            <a:off x="1097280" y="3657600"/>
            <a:ext cx="1371600" cy="36576"/>
          </a:xfrm>
          <a:prstGeom prst="rect">
            <a:avLst>
              <a:gd name="adj" fmla="val 50000"/>
            </a:avLst>
          </a:prstGeom>
          <a:solidFill>
            <a:srgbClr val="C2410C"/>
          </a:solidFill>
          <a:ln/>
        </p:spPr>
      </p:sp>
      <p:sp>
        <p:nvSpPr>
          <p:cNvPr id="5" name="Text 3"/>
          <p:cNvSpPr/>
          <p:nvPr/>
        </p:nvSpPr>
        <p:spPr>
          <a:xfrm>
            <a:off x="1097280" y="3840480"/>
            <a:ext cx="6949440" cy="457200"/>
          </a:xfrm>
          <a:prstGeom prst="rect">
            <a:avLst/>
          </a:prstGeom>
          <a:noFill/>
          <a:ln/>
        </p:spPr>
        <p:txBody>
          <a:bodyPr wrap="square" rtlCol="0" anchor="ctr"/>
          <a:lstStyle/>
          <a:p>
            <a:pPr algn="l" indent="0" marL="0">
              <a:buNone/>
            </a:pPr>
            <a:r>
              <a:rPr lang="en-US" sz="1400" dirty="0">
                <a:solidFill>
                  <a:srgbClr val="EA580C"/>
                </a:solidFill>
                <a:latin typeface="Segoe UI" pitchFamily="34" charset="0"/>
                <a:ea typeface="Segoe UI" pitchFamily="34" charset="-122"/>
                <a:cs typeface="Segoe UI" pitchFamily="34" charset="-120"/>
              </a:rPr>
              <a:t>Greg Dees, 'The Meaning of Social Entrepreneurship' (1998)</a:t>
            </a:r>
            <a:endParaRPr lang="en-US" sz="1400" dirty="0"/>
          </a:p>
        </p:txBody>
      </p:sp>
      <p:sp>
        <p:nvSpPr>
          <p:cNvPr id="7" name="Text 4"/>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371600"/>
            <a:ext cx="73152" cy="2286000"/>
          </a:xfrm>
          <a:prstGeom prst="rect">
            <a:avLst>
              <a:gd name="adj" fmla="val 50000"/>
            </a:avLst>
          </a:prstGeom>
          <a:solidFill>
            <a:srgbClr val="C2410C"/>
          </a:solidFill>
          <a:ln/>
        </p:spPr>
      </p:sp>
      <p:sp>
        <p:nvSpPr>
          <p:cNvPr id="3" name="Text 1"/>
          <p:cNvSpPr/>
          <p:nvPr/>
        </p:nvSpPr>
        <p:spPr>
          <a:xfrm>
            <a:off x="1005840" y="1371600"/>
            <a:ext cx="7315200" cy="1280160"/>
          </a:xfrm>
          <a:prstGeom prst="rect">
            <a:avLst/>
          </a:prstGeom>
          <a:noFill/>
          <a:ln/>
        </p:spPr>
        <p:txBody>
          <a:bodyPr wrap="square" rtlCol="0" anchor="ctr"/>
          <a:lstStyle/>
          <a:p>
            <a:pPr algn="l" indent="0" marL="0">
              <a:buNone/>
            </a:pPr>
            <a:r>
              <a:rPr lang="en-US" sz="3200" b="1" dirty="0">
                <a:solidFill>
                  <a:srgbClr val="1C1917"/>
                </a:solidFill>
                <a:latin typeface="Segoe UI" pitchFamily="34" charset="0"/>
                <a:ea typeface="Segoe UI" pitchFamily="34" charset="-122"/>
                <a:cs typeface="Segoe UI" pitchFamily="34" charset="-120"/>
              </a:rPr>
              <a:t>Living With the Tension</a:t>
            </a:r>
            <a:endParaRPr lang="en-US" sz="3200" dirty="0"/>
          </a:p>
        </p:txBody>
      </p:sp>
      <p:sp>
        <p:nvSpPr>
          <p:cNvPr id="4" name="Text 2"/>
          <p:cNvSpPr/>
          <p:nvPr/>
        </p:nvSpPr>
        <p:spPr>
          <a:xfrm>
            <a:off x="1005840" y="2743200"/>
            <a:ext cx="7315200" cy="731520"/>
          </a:xfrm>
          <a:prstGeom prst="rect">
            <a:avLst/>
          </a:prstGeom>
          <a:noFill/>
          <a:ln/>
        </p:spPr>
        <p:txBody>
          <a:bodyPr wrap="square" rtlCol="0" anchor="t"/>
          <a:lstStyle/>
          <a:p>
            <a:pPr algn="l" indent="0" marL="0">
              <a:buNone/>
            </a:pPr>
            <a:r>
              <a:rPr lang="en-US" sz="1600" dirty="0">
                <a:solidFill>
                  <a:srgbClr val="44403C"/>
                </a:solidFill>
                <a:latin typeface="Segoe UI" pitchFamily="34" charset="0"/>
                <a:ea typeface="Segoe UI" pitchFamily="34" charset="-122"/>
                <a:cs typeface="Segoe UI" pitchFamily="34" charset="-120"/>
              </a:rPr>
              <a:t>The double bottom line sounds elegant in theory. In practice, it creates a permanent negotiation between two bosses who sometimes want opposite things.</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640080" y="274320"/>
            <a:ext cx="7863840" cy="731520"/>
          </a:xfrm>
          <a:prstGeom prst="rect">
            <a:avLst/>
          </a:prstGeom>
          <a:noFill/>
          <a:ln/>
        </p:spPr>
        <p:txBody>
          <a:bodyPr wrap="square" rtlCol="0" anchor="ctr"/>
          <a:lstStyle/>
          <a:p>
            <a:pPr algn="l" indent="0" marL="0">
              <a:buNone/>
            </a:pPr>
            <a:r>
              <a:rPr lang="en-US" sz="2400" b="1" dirty="0">
                <a:solidFill>
                  <a:srgbClr val="1C1917"/>
                </a:solidFill>
                <a:latin typeface="Segoe UI" pitchFamily="34" charset="0"/>
                <a:ea typeface="Segoe UI" pitchFamily="34" charset="-122"/>
                <a:cs typeface="Segoe UI" pitchFamily="34" charset="-120"/>
              </a:rPr>
              <a:t>The Double Bottom Line</a:t>
            </a:r>
            <a:endParaRPr lang="en-US" sz="2400" dirty="0"/>
          </a:p>
        </p:txBody>
      </p:sp>
      <p:sp>
        <p:nvSpPr>
          <p:cNvPr id="3" name="Shape 1"/>
          <p:cNvSpPr/>
          <p:nvPr/>
        </p:nvSpPr>
        <p:spPr>
          <a:xfrm>
            <a:off x="640080" y="1051560"/>
            <a:ext cx="7863840" cy="22860"/>
          </a:xfrm>
          <a:prstGeom prst="rect">
            <a:avLst/>
          </a:prstGeom>
          <a:solidFill>
            <a:srgbClr val="C2410C"/>
          </a:solidFill>
          <a:ln/>
        </p:spPr>
      </p:sp>
      <p:sp>
        <p:nvSpPr>
          <p:cNvPr id="4" name="Text 2"/>
          <p:cNvSpPr/>
          <p:nvPr/>
        </p:nvSpPr>
        <p:spPr>
          <a:xfrm>
            <a:off x="822960" y="1280160"/>
            <a:ext cx="7498080" cy="3474720"/>
          </a:xfrm>
          <a:prstGeom prst="rect">
            <a:avLst/>
          </a:prstGeom>
          <a:noFill/>
          <a:ln/>
        </p:spPr>
        <p:txBody>
          <a:bodyPr wrap="square" rtlCol="0" anchor="t"/>
          <a:lstStyle/>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Financial bottom line: revenue, margins, long-term viability</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Social bottom line: impact depth, reach, equity of access</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Both must be tracked — neither can be sacrificed casually</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Trade-offs are real, recurring, and rarely clean</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Measuring social ROI remains genuinely contested</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640080" y="274320"/>
            <a:ext cx="7863840" cy="731520"/>
          </a:xfrm>
          <a:prstGeom prst="rect">
            <a:avLst/>
          </a:prstGeom>
          <a:noFill/>
          <a:ln/>
        </p:spPr>
        <p:txBody>
          <a:bodyPr wrap="square" rtlCol="0" anchor="ctr"/>
          <a:lstStyle/>
          <a:p>
            <a:pPr algn="l" indent="0" marL="0">
              <a:buNone/>
            </a:pPr>
            <a:r>
              <a:rPr lang="en-US" sz="2400" b="1" dirty="0">
                <a:solidFill>
                  <a:srgbClr val="1C1917"/>
                </a:solidFill>
                <a:latin typeface="Segoe UI" pitchFamily="34" charset="0"/>
                <a:ea typeface="Segoe UI" pitchFamily="34" charset="-122"/>
                <a:cs typeface="Segoe UI" pitchFamily="34" charset="-120"/>
              </a:rPr>
              <a:t>When Mission and Market Collide</a:t>
            </a:r>
            <a:endParaRPr lang="en-US" sz="2400" dirty="0"/>
          </a:p>
        </p:txBody>
      </p:sp>
      <p:sp>
        <p:nvSpPr>
          <p:cNvPr id="3" name="Shape 1"/>
          <p:cNvSpPr/>
          <p:nvPr/>
        </p:nvSpPr>
        <p:spPr>
          <a:xfrm>
            <a:off x="640080" y="1051560"/>
            <a:ext cx="7863840" cy="22860"/>
          </a:xfrm>
          <a:prstGeom prst="rect">
            <a:avLst/>
          </a:prstGeom>
          <a:solidFill>
            <a:srgbClr val="C2410C"/>
          </a:solidFill>
          <a:ln/>
        </p:spPr>
      </p:sp>
      <p:sp>
        <p:nvSpPr>
          <p:cNvPr id="4" name="Text 2"/>
          <p:cNvSpPr/>
          <p:nvPr/>
        </p:nvSpPr>
        <p:spPr>
          <a:xfrm>
            <a:off x="822960" y="1280160"/>
            <a:ext cx="7498080" cy="3474720"/>
          </a:xfrm>
          <a:prstGeom prst="rect">
            <a:avLst/>
          </a:prstGeom>
          <a:noFill/>
          <a:ln/>
        </p:spPr>
        <p:txBody>
          <a:bodyPr wrap="square" rtlCol="0" anchor="t"/>
          <a:lstStyle/>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Scaling can dilute impact quality — growth isn't always good</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Profitable customers ≠ most vulnerable beneficiaries</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Investor pressure gradually shifts organizational priorities</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Mission drift: small compromises that quietly compound</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Every social founder eventually faces the 'sell-out' question</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914400" y="731520"/>
            <a:ext cx="7315200" cy="457200"/>
          </a:xfrm>
          <a:prstGeom prst="rect">
            <a:avLst/>
          </a:prstGeom>
          <a:noFill/>
          <a:ln/>
        </p:spPr>
        <p:txBody>
          <a:bodyPr wrap="square" rtlCol="0" anchor="ctr"/>
          <a:lstStyle/>
          <a:p>
            <a:pPr algn="ctr" indent="0" marL="0">
              <a:buNone/>
            </a:pPr>
            <a:r>
              <a:rPr lang="en-US" sz="1200" b="1" spc="300" kern="0" dirty="0">
                <a:solidFill>
                  <a:srgbClr val="C2410C"/>
                </a:solidFill>
                <a:latin typeface="Segoe UI" pitchFamily="34" charset="0"/>
                <a:ea typeface="Segoe UI" pitchFamily="34" charset="-122"/>
                <a:cs typeface="Segoe UI" pitchFamily="34" charset="-120"/>
              </a:rPr>
              <a:t>The Productive Tension</a:t>
            </a:r>
            <a:endParaRPr lang="en-US" sz="1200" dirty="0"/>
          </a:p>
        </p:txBody>
      </p:sp>
      <p:sp>
        <p:nvSpPr>
          <p:cNvPr id="3" name="Text 1"/>
          <p:cNvSpPr/>
          <p:nvPr/>
        </p:nvSpPr>
        <p:spPr>
          <a:xfrm>
            <a:off x="914400" y="1463040"/>
            <a:ext cx="7315200" cy="2560320"/>
          </a:xfrm>
          <a:prstGeom prst="rect">
            <a:avLst/>
          </a:prstGeom>
          <a:noFill/>
          <a:ln/>
        </p:spPr>
        <p:txBody>
          <a:bodyPr wrap="square" rtlCol="0" anchor="ctr"/>
          <a:lstStyle/>
          <a:p>
            <a:pPr algn="ctr" indent="0" marL="0">
              <a:lnSpc>
                <a:spcPts val="3600"/>
              </a:lnSpc>
              <a:buNone/>
            </a:pPr>
            <a:r>
              <a:rPr lang="en-US" sz="2800" b="1" dirty="0">
                <a:solidFill>
                  <a:srgbClr val="1C1917"/>
                </a:solidFill>
                <a:latin typeface="Segoe UI" pitchFamily="34" charset="0"/>
                <a:ea typeface="Segoe UI" pitchFamily="34" charset="-122"/>
                <a:cs typeface="Segoe UI" pitchFamily="34" charset="-120"/>
              </a:rPr>
              <a:t>The tension between mission and market isn't a problem to solve — it's the engine that makes social enterprise more accountable than either charity or business alone.</a:t>
            </a:r>
            <a:endParaRPr lang="en-US" sz="2800" dirty="0"/>
          </a:p>
        </p:txBody>
      </p:sp>
      <p:sp>
        <p:nvSpPr>
          <p:cNvPr id="4" name="Shape 2"/>
          <p:cNvSpPr/>
          <p:nvPr/>
        </p:nvSpPr>
        <p:spPr>
          <a:xfrm>
            <a:off x="4297680" y="4389120"/>
            <a:ext cx="91440" cy="91440"/>
          </a:xfrm>
          <a:prstGeom prst="ellipse">
            <a:avLst/>
          </a:prstGeom>
          <a:solidFill>
            <a:srgbClr val="78716C"/>
          </a:solidFill>
          <a:ln/>
        </p:spPr>
      </p:sp>
      <p:sp>
        <p:nvSpPr>
          <p:cNvPr id="5" name="Shape 3"/>
          <p:cNvSpPr/>
          <p:nvPr/>
        </p:nvSpPr>
        <p:spPr>
          <a:xfrm>
            <a:off x="4526280" y="4389120"/>
            <a:ext cx="91440" cy="91440"/>
          </a:xfrm>
          <a:prstGeom prst="ellipse">
            <a:avLst/>
          </a:prstGeom>
          <a:solidFill>
            <a:srgbClr val="C2410C"/>
          </a:solidFill>
          <a:ln/>
        </p:spPr>
      </p:sp>
      <p:sp>
        <p:nvSpPr>
          <p:cNvPr id="6" name="Shape 4"/>
          <p:cNvSpPr/>
          <p:nvPr/>
        </p:nvSpPr>
        <p:spPr>
          <a:xfrm>
            <a:off x="4754880" y="4389120"/>
            <a:ext cx="91440" cy="91440"/>
          </a:xfrm>
          <a:prstGeom prst="ellipse">
            <a:avLst/>
          </a:prstGeom>
          <a:solidFill>
            <a:srgbClr val="78716C"/>
          </a:solidFill>
          <a:ln/>
        </p:spPr>
      </p:sp>
      <p:sp>
        <p:nvSpPr>
          <p:cNvPr id="8" name="Text 5"/>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5F0"/>
        </a:solidFill>
      </p:bgPr>
    </p:bg>
    <p:spTree>
      <p:nvGrpSpPr>
        <p:cNvPr id="1" name=""/>
        <p:cNvGrpSpPr/>
        <p:nvPr/>
      </p:nvGrpSpPr>
      <p:grpSpPr>
        <a:xfrm>
          <a:off x="0" y="0"/>
          <a:ext cx="0" cy="0"/>
          <a:chOff x="0" y="0"/>
          <a:chExt cx="0" cy="0"/>
        </a:xfrm>
      </p:grpSpPr>
      <p:sp>
        <p:nvSpPr>
          <p:cNvPr id="2" name="Text 0"/>
          <p:cNvSpPr/>
          <p:nvPr/>
        </p:nvSpPr>
        <p:spPr>
          <a:xfrm>
            <a:off x="640080" y="274320"/>
            <a:ext cx="7863840" cy="731520"/>
          </a:xfrm>
          <a:prstGeom prst="rect">
            <a:avLst/>
          </a:prstGeom>
          <a:noFill/>
          <a:ln/>
        </p:spPr>
        <p:txBody>
          <a:bodyPr wrap="square" rtlCol="0" anchor="ctr"/>
          <a:lstStyle/>
          <a:p>
            <a:pPr algn="l" indent="0" marL="0">
              <a:buNone/>
            </a:pPr>
            <a:r>
              <a:rPr lang="en-US" sz="2400" b="1" dirty="0">
                <a:solidFill>
                  <a:srgbClr val="1C1917"/>
                </a:solidFill>
                <a:latin typeface="Segoe UI" pitchFamily="34" charset="0"/>
                <a:ea typeface="Segoe UI" pitchFamily="34" charset="-122"/>
                <a:cs typeface="Segoe UI" pitchFamily="34" charset="-120"/>
              </a:rPr>
              <a:t>Key Takeaways</a:t>
            </a:r>
            <a:endParaRPr lang="en-US" sz="2400" dirty="0"/>
          </a:p>
        </p:txBody>
      </p:sp>
      <p:sp>
        <p:nvSpPr>
          <p:cNvPr id="3" name="Shape 1"/>
          <p:cNvSpPr/>
          <p:nvPr/>
        </p:nvSpPr>
        <p:spPr>
          <a:xfrm>
            <a:off x="640080" y="1051560"/>
            <a:ext cx="7863840" cy="22860"/>
          </a:xfrm>
          <a:prstGeom prst="rect">
            <a:avLst/>
          </a:prstGeom>
          <a:solidFill>
            <a:srgbClr val="C2410C"/>
          </a:solidFill>
          <a:ln/>
        </p:spPr>
      </p:sp>
      <p:sp>
        <p:nvSpPr>
          <p:cNvPr id="4" name="Text 2"/>
          <p:cNvSpPr/>
          <p:nvPr/>
        </p:nvSpPr>
        <p:spPr>
          <a:xfrm>
            <a:off x="822960" y="1280160"/>
            <a:ext cx="7498080" cy="3474720"/>
          </a:xfrm>
          <a:prstGeom prst="rect">
            <a:avLst/>
          </a:prstGeom>
          <a:noFill/>
          <a:ln/>
        </p:spPr>
        <p:txBody>
          <a:bodyPr wrap="square" rtlCol="0" anchor="t"/>
          <a:lstStyle/>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Social enterprise = impact by design, funded by market mechanisms</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The spectrum is real — resist binary nonprofit vs. for-profit thinking</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CSR, philanthropy, and impact investing differ in accountability structure</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The double bottom line creates genuine, recurring strategic tension</a:t>
            </a:r>
            <a:endParaRPr lang="en-US" sz="1600" dirty="0"/>
          </a:p>
          <a:p>
            <a:pPr marL="342900" indent="-342900">
              <a:lnSpc>
                <a:spcPts val="2200"/>
              </a:lnSpc>
              <a:spcBef>
                <a:spcPts val="800"/>
              </a:spcBef>
              <a:spcAft>
                <a:spcPts val="400"/>
              </a:spcAft>
              <a:buSzPct val="100000"/>
              <a:buChar char="●"/>
            </a:pPr>
            <a:r>
              <a:rPr lang="en-US" sz="1600" dirty="0">
                <a:solidFill>
                  <a:srgbClr val="44403C"/>
                </a:solidFill>
                <a:latin typeface="Segoe UI" pitchFamily="34" charset="0"/>
                <a:ea typeface="Segoe UI" pitchFamily="34" charset="-122"/>
                <a:cs typeface="Segoe UI" pitchFamily="34" charset="-120"/>
              </a:rPr>
              <a:t>Mission drift is the defining long-run risk — and it's usually gradual</a:t>
            </a:r>
            <a:endParaRPr lang="en-US" sz="1600" dirty="0"/>
          </a:p>
        </p:txBody>
      </p:sp>
      <p:sp>
        <p:nvSpPr>
          <p:cNvPr id="6" name="Text 3"/>
          <p:cNvSpPr/>
          <p:nvPr/>
        </p:nvSpPr>
        <p:spPr>
          <a:xfrm>
            <a:off x="7498080" y="4754880"/>
            <a:ext cx="1371600" cy="274320"/>
          </a:xfrm>
          <a:prstGeom prst="rect">
            <a:avLst/>
          </a:prstGeom>
          <a:noFill/>
          <a:ln/>
        </p:spPr>
        <p:txBody>
          <a:bodyPr wrap="square" rtlCol="0" anchor="ctr"/>
          <a:lstStyle/>
          <a:p>
            <a:pPr algn="r" indent="0" marL="0">
              <a:buNone/>
            </a:pPr>
            <a:r>
              <a:rPr lang="en-US" sz="900" dirty="0">
                <a:solidFill>
                  <a:srgbClr val="78716C"/>
                </a:solidFill>
                <a:latin typeface="Segoe UI" pitchFamily="34" charset="0"/>
                <a:ea typeface="Segoe UI" pitchFamily="34" charset="-122"/>
                <a:cs typeface="Segoe U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Space Between Profit and Purpose</dc:title>
  <dc:subject>Engines of Change: Social Entrepreneurship in Singapore and the ASEAN Mosaic</dc:subject>
  <dc:creator>ClassBuild</dc:creator>
  <cp:lastModifiedBy>ClassBuild</cp:lastModifiedBy>
  <cp:revision>1</cp:revision>
  <dcterms:created xsi:type="dcterms:W3CDTF">2026-03-02T15:05:05Z</dcterms:created>
  <dcterms:modified xsi:type="dcterms:W3CDTF">2026-03-02T15:05:05Z</dcterms:modified>
</cp:coreProperties>
</file>